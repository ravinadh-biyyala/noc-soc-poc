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2926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6B6D4"/>
                </a:solidFill>
                <a:latin typeface="Segoe U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74320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Segoe UI"/>
              </a:rPr>
              <a:t>Agentic, self-serve BI — native to Salesforce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334155"/>
                </a:solidFill>
                <a:latin typeface="Segoe UI"/>
              </a:rPr>
              <a:t>Non-technical Hilton users turn fragmented data into board-ready dashboards in minutes — inside the Salesforce they already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551834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551834" cy="566928"/>
          </a:xfrm>
          <a:prstGeom prst="roundRect">
            <a:avLst>
              <a:gd name="adj" fmla="val 45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00784"/>
            <a:ext cx="3551834" cy="2834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318607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1 · THE SOLUTION</a:t>
            </a:r>
          </a:p>
          <a:p>
            <a:pPr algn="l"/>
            <a:r>
              <a:rPr sz="950" b="0">
                <a:solidFill>
                  <a:srgbClr val="E2E8F0"/>
                </a:solidFill>
                <a:latin typeface="Segoe UI"/>
              </a:rPr>
              <a:t>BI for everyone — no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417320"/>
            <a:ext cx="3551834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19930" y="1417320"/>
            <a:ext cx="3551834" cy="566928"/>
          </a:xfrm>
          <a:prstGeom prst="roundRect">
            <a:avLst>
              <a:gd name="adj" fmla="val 4500"/>
            </a:avLst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9930" y="1700784"/>
            <a:ext cx="3551834" cy="283464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2810" y="1490472"/>
            <a:ext cx="318607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 · ARCHITECTURE</a:t>
            </a:r>
          </a:p>
          <a:p>
            <a:pPr algn="l"/>
            <a:r>
              <a:rPr sz="950" b="0">
                <a:solidFill>
                  <a:srgbClr val="E2E8F0"/>
                </a:solidFill>
                <a:latin typeface="Segoe UI"/>
              </a:rPr>
              <a:t>An LWC inside Salesforce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2660" y="1417320"/>
            <a:ext cx="3551834" cy="4617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2660" y="1417320"/>
            <a:ext cx="3551834" cy="566928"/>
          </a:xfrm>
          <a:prstGeom prst="roundRect">
            <a:avLst>
              <a:gd name="adj" fmla="val 45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2660" y="1700784"/>
            <a:ext cx="3551834" cy="2834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5540" y="1490472"/>
            <a:ext cx="318607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3 · GET STARTED</a:t>
            </a:r>
          </a:p>
          <a:p>
            <a:pPr algn="l"/>
            <a:r>
              <a:rPr sz="950" b="0">
                <a:solidFill>
                  <a:srgbClr val="E2E8F0"/>
                </a:solidFill>
                <a:latin typeface="Segoe UI"/>
              </a:rPr>
              <a:t>Live in Hilton's SF org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130552"/>
            <a:ext cx="3149498" cy="36576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4F46E5"/>
                </a:solidFill>
                <a:latin typeface="Segoe UI"/>
              </a:rPr>
              <a:t>Fragmented data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077669" y="2542032"/>
            <a:ext cx="310896" cy="237744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2825496"/>
            <a:ext cx="3149498" cy="8412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22D3EE"/>
                </a:solidFill>
                <a:latin typeface="Segoe UI"/>
              </a:rPr>
              <a:t>AGENTIC PROCESS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Cleanse · Merge · Classify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Analyze → your KPIs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077669" y="3721608"/>
            <a:ext cx="310896" cy="237744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8368" y="4005072"/>
            <a:ext cx="3149498" cy="36576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6B6D4"/>
                </a:solidFill>
                <a:latin typeface="Segoe UI"/>
              </a:rPr>
              <a:t>Aesthetic, live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99432"/>
            <a:ext cx="3149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Segoe UI"/>
              </a:rPr>
              <a:t>PLUS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491032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846320"/>
            <a:ext cx="29300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Build &amp; change dashboards just by chatting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5413248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5349240"/>
            <a:ext cx="293004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BI Companion watches your work &amp; suggests next steps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1098" y="2130552"/>
            <a:ext cx="314949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A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521098" y="2130552"/>
            <a:ext cx="3149498" cy="329184"/>
          </a:xfrm>
          <a:prstGeom prst="roundRect">
            <a:avLst>
              <a:gd name="adj" fmla="val 6000"/>
            </a:avLst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21098" y="2295144"/>
            <a:ext cx="3149498" cy="164592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30826" y="2130552"/>
            <a:ext cx="293004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SALESFORCE PLATFORM · Hilton org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7402" y="2569464"/>
            <a:ext cx="2856890" cy="71323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22D3EE"/>
                </a:solidFill>
                <a:latin typeface="Segoe UI"/>
              </a:rPr>
              <a:t>GenBI — embedded LWC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Dashboards + BI Companion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402" y="3355848"/>
            <a:ext cx="28568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032D60"/>
                </a:solidFill>
                <a:latin typeface="Segoe UI"/>
              </a:rPr>
              <a:t>Salesforce objects · SSO / OAuth · Permission sets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912967" y="3950208"/>
            <a:ext cx="365760" cy="274320"/>
          </a:xfrm>
          <a:prstGeom prst="down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1098" y="3950208"/>
            <a:ext cx="31494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Segoe UI"/>
              </a:rPr>
              <a:t>secure API · REST / SSE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1098" y="4297680"/>
            <a:ext cx="3149498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21098" y="4297680"/>
            <a:ext cx="3149498" cy="310896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21098" y="4453128"/>
            <a:ext cx="3149498" cy="1554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30826" y="4297680"/>
            <a:ext cx="293004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GenBI AGENTIC SERVICES · 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402" y="4700016"/>
            <a:ext cx="285689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LangGraph agent engine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PostgreSQL store · OpenAI</a:t>
            </a:r>
          </a:p>
        </p:txBody>
      </p:sp>
      <p:sp>
        <p:nvSpPr>
          <p:cNvPr id="42" name="Oval 41"/>
          <p:cNvSpPr/>
          <p:nvPr/>
        </p:nvSpPr>
        <p:spPr>
          <a:xfrm>
            <a:off x="8383828" y="2148840"/>
            <a:ext cx="420624" cy="4206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0756" y="2130552"/>
            <a:ext cx="258257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Segoe UI"/>
              </a:rPr>
              <a:t>Install the GenBI package / LWC into Hilton's Salesforce org.</a:t>
            </a:r>
          </a:p>
        </p:txBody>
      </p:sp>
      <p:sp>
        <p:nvSpPr>
          <p:cNvPr id="44" name="Oval 43"/>
          <p:cNvSpPr/>
          <p:nvPr/>
        </p:nvSpPr>
        <p:spPr>
          <a:xfrm>
            <a:off x="8383828" y="291693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0756" y="2898648"/>
            <a:ext cx="258257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Segoe UI"/>
              </a:rPr>
              <a:t>Configure trust — Connected App, Named Credential &amp; Remote Site.</a:t>
            </a:r>
          </a:p>
        </p:txBody>
      </p:sp>
      <p:sp>
        <p:nvSpPr>
          <p:cNvPr id="46" name="Oval 45"/>
          <p:cNvSpPr/>
          <p:nvPr/>
        </p:nvSpPr>
        <p:spPr>
          <a:xfrm>
            <a:off x="8383828" y="368503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0756" y="3666744"/>
            <a:ext cx="258257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Segoe UI"/>
              </a:rPr>
              <a:t>Drop the GenBI LWC onto a Lightning page in App Builder.</a:t>
            </a:r>
          </a:p>
        </p:txBody>
      </p:sp>
      <p:sp>
        <p:nvSpPr>
          <p:cNvPr id="48" name="Oval 47"/>
          <p:cNvSpPr/>
          <p:nvPr/>
        </p:nvSpPr>
        <p:spPr>
          <a:xfrm>
            <a:off x="8383828" y="4453128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50756" y="4434840"/>
            <a:ext cx="258257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Segoe UI"/>
              </a:rPr>
              <a:t>Connect Salesforce + external data and pick Hilton's KPIs.</a:t>
            </a:r>
          </a:p>
        </p:txBody>
      </p:sp>
      <p:sp>
        <p:nvSpPr>
          <p:cNvPr id="50" name="Oval 49"/>
          <p:cNvSpPr/>
          <p:nvPr/>
        </p:nvSpPr>
        <p:spPr>
          <a:xfrm>
            <a:off x="8383828" y="5221224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0756" y="5202936"/>
            <a:ext cx="258257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334155"/>
                </a:solidFill>
                <a:latin typeface="Segoe UI"/>
              </a:rPr>
              <a:t>Assign permission sets to business SPOCs — go live.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6199632"/>
            <a:ext cx="11277295" cy="457200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Self-serve, agentic BI for every Hilton SPOC — delivered where they already work, inside Salesforce.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Narasimha Varma Manthena</cp:lastModifiedBy>
  <cp:revision>1</cp:revision>
  <dcterms:created xsi:type="dcterms:W3CDTF">2013-01-27T09:14:16Z</dcterms:created>
  <dcterms:modified xsi:type="dcterms:W3CDTF">2026-06-01T12:59:26Z</dcterms:modified>
  <cp:category/>
</cp:coreProperties>
</file>