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Segoe UI"/>
              </a:rPr>
              <a:t>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38404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6B6D4"/>
                </a:solidFill>
                <a:latin typeface="Segoe UI"/>
              </a:rPr>
              <a:t>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Segoe UI"/>
              </a:rPr>
              <a:t>SOLUTION OVERVIEW &amp;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Segoe UI"/>
              </a:rPr>
              <a:t>Business intelligence for everyone — not just data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Non-technical users get board-ready insights in minutes. An agentic workflow consolidates fragmented data, and an AI Companion guides every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70048"/>
            <a:ext cx="2514600" cy="17556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79776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Segoe UI"/>
              </a:rPr>
              <a:t>FRAGMENTED DATA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182112"/>
            <a:ext cx="182880" cy="1828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145536"/>
            <a:ext cx="1965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Databases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483864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47288"/>
            <a:ext cx="1965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Spreadsheets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3785615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749039"/>
            <a:ext cx="1965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Files / CSV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4087368"/>
            <a:ext cx="182880" cy="182880"/>
          </a:xfrm>
          <a:prstGeom prst="ellipse">
            <a:avLst/>
          </a:prstGeom>
          <a:solidFill>
            <a:srgbClr val="00A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050791"/>
            <a:ext cx="1965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Salesforce objects</a:t>
            </a:r>
          </a:p>
        </p:txBody>
      </p:sp>
      <p:sp>
        <p:nvSpPr>
          <p:cNvPr id="19" name="Chevron 18"/>
          <p:cNvSpPr/>
          <p:nvPr/>
        </p:nvSpPr>
        <p:spPr>
          <a:xfrm>
            <a:off x="3136392" y="3291839"/>
            <a:ext cx="365760" cy="512064"/>
          </a:xfrm>
          <a:prstGeom prst="chevron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03320" y="2670048"/>
            <a:ext cx="4526280" cy="1755648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779776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22D3EE"/>
                </a:solidFill>
                <a:latin typeface="Segoe UI"/>
              </a:rPr>
              <a:t>AGENTIC PROCESS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3090672"/>
            <a:ext cx="1952244" cy="402336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Cleanse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48756" y="3090672"/>
            <a:ext cx="1952244" cy="402336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Merge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3584448"/>
            <a:ext cx="1952244" cy="402336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Classify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48756" y="3584448"/>
            <a:ext cx="1952244" cy="402336"/>
          </a:xfrm>
          <a:prstGeom prst="roundRect">
            <a:avLst>
              <a:gd name="adj" fmla="val 22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Analyze → your KPIs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151376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Segoe UI"/>
              </a:rPr>
              <a:t>Autonomous AI agents — no SQL, no code</a:t>
            </a:r>
          </a:p>
        </p:txBody>
      </p:sp>
      <p:sp>
        <p:nvSpPr>
          <p:cNvPr id="27" name="Chevron 26"/>
          <p:cNvSpPr/>
          <p:nvPr/>
        </p:nvSpPr>
        <p:spPr>
          <a:xfrm>
            <a:off x="8302752" y="3291839"/>
            <a:ext cx="365760" cy="512064"/>
          </a:xfrm>
          <a:prstGeom prst="chevron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32520" y="2670048"/>
            <a:ext cx="2907792" cy="17556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2520" y="2779776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Segoe UI"/>
              </a:rPr>
              <a:t>AESTHETIC DASHBOARD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3127248"/>
            <a:ext cx="1225296" cy="420624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ADR  $182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32136" y="3127248"/>
            <a:ext cx="1225296" cy="420624"/>
          </a:xfrm>
          <a:prstGeom prst="roundRect">
            <a:avLst>
              <a:gd name="adj" fmla="val 1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06B6D4"/>
                </a:solidFill>
                <a:latin typeface="Segoe UI"/>
              </a:rPr>
              <a:t>RevPAR $146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88552" y="3739896"/>
            <a:ext cx="182880" cy="4114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62872" y="3493008"/>
            <a:ext cx="182880" cy="65836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3648456"/>
            <a:ext cx="182880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11512" y="3282696"/>
            <a:ext cx="182880" cy="8686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5832" y="3438144"/>
            <a:ext cx="182880" cy="7132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07040" y="3639312"/>
            <a:ext cx="713232" cy="71323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808208" y="3840480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480559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334155"/>
                </a:solidFill>
                <a:latin typeface="Segoe UI"/>
              </a:rPr>
              <a:t>Siloed &amp; messy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4480559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334155"/>
                </a:solidFill>
                <a:latin typeface="Segoe UI"/>
              </a:rPr>
              <a:t>Consolidated automatically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4480559"/>
            <a:ext cx="2907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334155"/>
                </a:solidFill>
                <a:latin typeface="Segoe UI"/>
              </a:rPr>
              <a:t>Live &amp; shareable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074920"/>
            <a:ext cx="548640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074920"/>
            <a:ext cx="82296" cy="1325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520293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Segoe UI"/>
              </a:rPr>
              <a:t>Build &amp; change dashboards by chatting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" y="5577840"/>
            <a:ext cx="3108960" cy="36576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“Add ADR by region as a bar chart”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86000" y="5989320"/>
            <a:ext cx="3474720" cy="347472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✓ Added ‘ADR by Region’ — anything else?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45352" y="5074920"/>
            <a:ext cx="53949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45352" y="5074920"/>
            <a:ext cx="82296" cy="13258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01384" y="52029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Segoe UI"/>
              </a:rPr>
              <a:t>BI Companion — it watches &amp; suggests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01384" y="5577840"/>
            <a:ext cx="4892040" cy="420624"/>
          </a:xfrm>
          <a:prstGeom prst="roundRect">
            <a:avLst>
              <a:gd name="adj" fmla="val 2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Suggestion: Occupancy dipped in Q2 — see a trend by property?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01384" y="606247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Context-aware, next-best-analysis prompts as you 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Segoe UI"/>
              </a:rPr>
              <a:t>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38404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6B6D4"/>
                </a:solidFill>
                <a:latin typeface="Segoe UI"/>
              </a:rPr>
              <a:t>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Segoe UI"/>
              </a:rPr>
              <a:t>TECHNICAL ARCHITECTURE · SALESFORCE-NATIVE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Segoe U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Segoe UI"/>
              </a:rPr>
              <a:t>Delivered as a Lightning Web Component inside Salesforce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65376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334155"/>
                </a:solidFill>
                <a:latin typeface="Segoe UI"/>
              </a:rPr>
              <a:t>GenBI runs natively in your Salesforce org — secure, governed, zero context-switching. The LWC calls the GenBI agentic services over a trusted connection.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87168"/>
            <a:ext cx="6263640" cy="3246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00A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87168"/>
            <a:ext cx="6263640" cy="457200"/>
          </a:xfrm>
          <a:prstGeom prst="rect">
            <a:avLst/>
          </a:prstGeom>
          <a:solidFill>
            <a:srgbClr val="03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58978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SALESFORCE PLATFORM  (Hilton org)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090672"/>
            <a:ext cx="5806440" cy="1691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00A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63824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32D60"/>
                </a:solidFill>
                <a:latin typeface="Segoe UI"/>
              </a:rPr>
              <a:t>Lightning App Builder page  ·  Home / App / Record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502152"/>
            <a:ext cx="5349240" cy="1078992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3502152"/>
            <a:ext cx="5349240" cy="1078992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GenBI  —  embedded LWC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Interactive dashboards  +  BI Companion chat</a:t>
            </a:r>
          </a:p>
          <a:p>
            <a:pPr algn="ctr"/>
            <a:r>
              <a:rPr sz="900" b="1">
                <a:solidFill>
                  <a:srgbClr val="94A3B8"/>
                </a:solidFill>
                <a:latin typeface="Segoe UI"/>
              </a:rPr>
              <a:t>renders inside the page, like any native component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928616"/>
            <a:ext cx="2263140" cy="310896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000" b="1">
                <a:solidFill>
                  <a:srgbClr val="032D60"/>
                </a:solidFill>
                <a:latin typeface="Segoe UI"/>
              </a:rPr>
              <a:t>Standard &amp; custom objects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4972" y="4928616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000" b="1">
                <a:solidFill>
                  <a:srgbClr val="032D60"/>
                </a:solidFill>
                <a:latin typeface="Segoe UI"/>
              </a:rPr>
              <a:t>SSO / OAuth identity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44084" y="4928616"/>
            <a:ext cx="1485900" cy="310896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000" b="1">
                <a:solidFill>
                  <a:srgbClr val="032D60"/>
                </a:solidFill>
                <a:latin typeface="Segoe UI"/>
              </a:rPr>
              <a:t>Permission 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49240"/>
            <a:ext cx="5806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Segoe UI"/>
              </a:rPr>
              <a:t>Data, identity &amp; access stay governed by Salesforce.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848855" y="3538728"/>
            <a:ext cx="566928" cy="457200"/>
          </a:xfrm>
          <a:prstGeom prst="rightArrow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eft Arrow 21"/>
          <p:cNvSpPr/>
          <p:nvPr/>
        </p:nvSpPr>
        <p:spPr>
          <a:xfrm>
            <a:off x="6848855" y="4361688"/>
            <a:ext cx="566928" cy="457200"/>
          </a:xfrm>
          <a:prstGeom prst="leftArrow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2004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secure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484632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JSON / SSE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2487168"/>
            <a:ext cx="4142232" cy="3246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79" y="2487168"/>
            <a:ext cx="4142232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59" y="2487168"/>
            <a:ext cx="377647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GenBI AGENTIC SERVICES  (cloud)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3090672"/>
            <a:ext cx="3685032" cy="384048"/>
          </a:xfrm>
          <a:prstGeom prst="roundRect">
            <a:avLst>
              <a:gd name="adj" fmla="val 14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4F46E5"/>
                </a:solidFill>
                <a:latin typeface="Segoe UI"/>
              </a:rPr>
              <a:t>API layer — REST + streaming (SSE)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3566160"/>
            <a:ext cx="3685032" cy="676656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Agentic engine · LangGraph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Cleanse · Merge · Classify · Analyze · KPIs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79" y="4334256"/>
            <a:ext cx="2064166" cy="512064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Governed store</a:t>
            </a:r>
          </a:p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PostgreSQL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37150" y="4334256"/>
            <a:ext cx="1547713" cy="512064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LLM</a:t>
            </a:r>
          </a:p>
          <a:p>
            <a:pPr algn="ctr"/>
            <a:r>
              <a:rPr sz="900" b="1">
                <a:solidFill>
                  <a:srgbClr val="64748B"/>
                </a:solidFill>
                <a:latin typeface="Segoe UI"/>
              </a:rPr>
              <a:t>OpenAI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4974336"/>
            <a:ext cx="3685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</a:rPr>
              <a:t>Ingests SF objects + external 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8704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Segoe UI"/>
              </a:rPr>
              <a:t>INTEGRATION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6163056"/>
            <a:ext cx="608076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LWC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03020" y="6163056"/>
            <a:ext cx="1476756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Apex callouts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26080" y="6163056"/>
            <a:ext cx="1824228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Named Credentials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96612" y="6163056"/>
            <a:ext cx="1303019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Remote Site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45936" y="6163056"/>
            <a:ext cx="1129284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OAuth 2.0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21524" y="6163056"/>
            <a:ext cx="1216152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REST + SSE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83980" y="6163056"/>
            <a:ext cx="1216152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18288" bIns="18288"/>
          <a:lstStyle/>
          <a:p>
            <a:pPr algn="ctr"/>
            <a:r>
              <a:rPr sz="1000" b="1">
                <a:solidFill>
                  <a:srgbClr val="4F46E5"/>
                </a:solidFill>
                <a:latin typeface="Segoe UI"/>
              </a:rPr>
              <a:t>PostgreSQL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2926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Segoe UI"/>
              </a:rPr>
              <a:t>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38404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06B6D4"/>
                </a:solidFill>
                <a:latin typeface="Segoe UI"/>
              </a:rPr>
              <a:t>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Segoe UI"/>
              </a:rPr>
              <a:t>GETTING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Segoe UI"/>
              </a:rPr>
              <a:t>Live in Hilton's Salesforce org in five quick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334155"/>
                </a:solidFill>
                <a:latin typeface="Segoe UI"/>
              </a:rPr>
              <a:t>No data migration. No new logins. BI delivered where Hilton teams already work.</a:t>
            </a:r>
          </a:p>
        </p:txBody>
      </p:sp>
      <p:sp>
        <p:nvSpPr>
          <p:cNvPr id="9" name="Pentagon 8"/>
          <p:cNvSpPr/>
          <p:nvPr/>
        </p:nvSpPr>
        <p:spPr>
          <a:xfrm>
            <a:off x="548640" y="2697480"/>
            <a:ext cx="2350556" cy="603504"/>
          </a:xfrm>
          <a:prstGeom prst="homePlat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1.  Install the package</a:t>
            </a:r>
          </a:p>
        </p:txBody>
      </p:sp>
      <p:sp>
        <p:nvSpPr>
          <p:cNvPr id="10" name="Chevron 9"/>
          <p:cNvSpPr/>
          <p:nvPr/>
        </p:nvSpPr>
        <p:spPr>
          <a:xfrm>
            <a:off x="2734604" y="2697480"/>
            <a:ext cx="2350556" cy="603504"/>
          </a:xfrm>
          <a:prstGeom prst="chevron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2.  Establish trust</a:t>
            </a:r>
          </a:p>
        </p:txBody>
      </p:sp>
      <p:sp>
        <p:nvSpPr>
          <p:cNvPr id="11" name="Chevron 10"/>
          <p:cNvSpPr/>
          <p:nvPr/>
        </p:nvSpPr>
        <p:spPr>
          <a:xfrm>
            <a:off x="4920569" y="2697480"/>
            <a:ext cx="2350556" cy="603504"/>
          </a:xfrm>
          <a:prstGeom prst="chevron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3.  Place the component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7106533" y="2697480"/>
            <a:ext cx="2350556" cy="603504"/>
          </a:xfrm>
          <a:prstGeom prst="chevron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4.  Connect data &amp; KPIs</a:t>
            </a:r>
          </a:p>
        </p:txBody>
      </p:sp>
      <p:sp>
        <p:nvSpPr>
          <p:cNvPr id="13" name="Chevron 12"/>
          <p:cNvSpPr/>
          <p:nvPr/>
        </p:nvSpPr>
        <p:spPr>
          <a:xfrm>
            <a:off x="9292498" y="2697480"/>
            <a:ext cx="2350556" cy="603504"/>
          </a:xfrm>
          <a:prstGeom prst="chevron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5.  Assign &amp; go 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2014057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2014057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72204" y="3867912"/>
            <a:ext cx="566928" cy="56692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572000"/>
            <a:ext cx="1684873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Install the package</a:t>
            </a:r>
          </a:p>
          <a:p>
            <a:pPr algn="ctr">
              <a:lnSpc>
                <a:spcPct val="122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Deploy the GenBI managed package / LWC into Hilton's Salesforce org.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8729" y="3611880"/>
            <a:ext cx="2014057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8729" y="3611880"/>
            <a:ext cx="2014057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42294" y="3867912"/>
            <a:ext cx="566928" cy="5669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3321" y="4572000"/>
            <a:ext cx="1684873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Establish trust</a:t>
            </a:r>
          </a:p>
          <a:p>
            <a:pPr algn="ctr">
              <a:lnSpc>
                <a:spcPct val="122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Configure the Connected App, Named Credential &amp; Remote Site to reach GenBI services securely.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8818" y="3611880"/>
            <a:ext cx="2014057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8818" y="3611880"/>
            <a:ext cx="2014057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12383" y="3867912"/>
            <a:ext cx="566928" cy="5669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3410" y="4572000"/>
            <a:ext cx="1684873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Place the component</a:t>
            </a:r>
          </a:p>
          <a:p>
            <a:pPr algn="ctr">
              <a:lnSpc>
                <a:spcPct val="122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In Lightning App Builder, drop the GenBI LWC onto a Home, App or Record page.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8908" y="3611880"/>
            <a:ext cx="2014057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8908" y="3611880"/>
            <a:ext cx="2014057" cy="10972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82473" y="3867912"/>
            <a:ext cx="566928" cy="56692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3500" y="4572000"/>
            <a:ext cx="1684873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Connect data &amp; KPIs</a:t>
            </a:r>
          </a:p>
          <a:p>
            <a:pPr algn="ctr">
              <a:lnSpc>
                <a:spcPct val="122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Link Salesforce objects + external sources; pick the KPIs Hilton cares about.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28997" y="3611880"/>
            <a:ext cx="2014057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28997" y="3611880"/>
            <a:ext cx="2014057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52562" y="3867912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3589" y="4572000"/>
            <a:ext cx="1684873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Assign &amp; go live</a:t>
            </a:r>
          </a:p>
          <a:p>
            <a:pPr algn="ctr">
              <a:lnSpc>
                <a:spcPct val="122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Grant permission sets to business SPOCs — they start chatting with their data.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989320"/>
            <a:ext cx="11091672" cy="54864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Result: every Hilton SPOC gets self-serve, agentic BI — inside Salesforce.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